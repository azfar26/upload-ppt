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Poppins"/>
      <p:regular r:id="rId201314"/>
      <p:bold r:id="rId301314"/>
    </p:embeddedFont>
    <p:embeddedFont>
      <p:font typeface="Roboto-Regular"/>
      <p:regular r:id="rId201315"/>
    </p:embeddedFont>
    <p:embeddedFont>
      <p:font typeface="Roboto-BoldItalic"/>
      <p:regular r:id="rId201316"/>
    </p:embeddedFont>
    <p:embeddedFont>
      <p:font typeface="TimesNewRomanPS-ItalicMT"/>
      <p:regular r:id="rId201317"/>
    </p:embeddedFont>
    <p:embeddedFont>
      <p:font typeface="Montserrat"/>
      <p:regular r:id="rId201318"/>
      <p:bold r:id="rId301315"/>
    </p:embeddedFont>
    <p:embeddedFont>
      <p:font typeface="Roboto Slab"/>
      <p:regular r:id="rId201319"/>
      <p:bold r:id="rId301316"/>
    </p:embeddedFont>
    <p:embeddedFont>
      <p:font typeface="Open Sans"/>
      <p:regular r:id="rId201320"/>
    </p:embeddedFont>
    <p:embeddedFont>
      <p:font typeface="OpenSans-Bold"/>
      <p:regular r:id="rId201321"/>
    </p:embeddedFont>
    <p:embeddedFont>
      <p:font typeface="PlayfairDisplay-Italic"/>
      <p:regular r:id="rId201322"/>
      <p:bold r:id="rId301317"/>
    </p:embeddedFont>
    <p:embeddedFont>
      <p:font typeface="ComicSansMS-Bold"/>
      <p:regular r:id="rId201323"/>
    </p:embeddedFont>
    <p:embeddedFont>
      <p:font typeface="Balsamiq Sans"/>
      <p:regular r:id="rId201324"/>
      <p:bold r:id="rId301318"/>
    </p:embeddedFont>
    <p:embeddedFont>
      <p:font typeface="ComicSansMS"/>
      <p:regular r:id="rId201325"/>
    </p:embeddedFont>
    <p:embeddedFont>
      <p:font typeface="Noto Sans KR"/>
      <p:regular r:id="rId201326"/>
      <p:bold r:id="rId301319"/>
    </p:embeddedFont>
    <p:embeddedFont>
      <p:font typeface="PlayfairDisplay-BoldItalic"/>
      <p:regular r:id="rId201327"/>
    </p:embeddedFont>
    <p:embeddedFont>
      <p:font typeface="Lato"/>
      <p:regular r:id="rId2013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Relationship Id="rId301316" Target="fonts/301316.fntdata" Type="http://schemas.openxmlformats.org/officeDocument/2006/relationships/font"/><Relationship Id="rId301317" Target="fonts/301317.fntdata" Type="http://schemas.openxmlformats.org/officeDocument/2006/relationships/font"/><Relationship Id="rId301318" Target="fonts/301318.fntdata" Type="http://schemas.openxmlformats.org/officeDocument/2006/relationships/font"/><Relationship Id="rId301319" Target="fonts/3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8200" y="1219200"/>
            <a:ext cx="9806940" cy="8047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6336"/>
              </a:lnSpc>
              <a:buNone/>
            </a:pPr>
            <a:r>
              <a:rPr lang="en-US" sz="4950" b="1" dirty="0">
                <a:solidFill>
                  <a:srgbClr val="FDB8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Batu Seremban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838200" y="2114550"/>
            <a:ext cx="4997648" cy="11200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Malaysian</a:t>
            </a:r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Traditional Game</a:t>
            </a:r>
            <a:endParaRPr lang="en-US" sz="3675" dirty="0"/>
          </a:p>
        </p:txBody>
      </p:sp>
      <p:sp>
        <p:nvSpPr>
          <p:cNvPr id="5" name="Text 2"/>
          <p:cNvSpPr/>
          <p:nvPr/>
        </p:nvSpPr>
        <p:spPr>
          <a:xfrm>
            <a:off x="838200" y="3895725"/>
            <a:ext cx="6181725" cy="12573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An introduction to the beloved Malaysian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traditional game known as Five Stones —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focusing on dexterity, hand-eye coordination,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and concentration.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2025" y="5543550"/>
            <a:ext cx="6442710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🎮 Traditional Game · Malaysia</a:t>
            </a:r>
            <a:endParaRPr lang="en-US" sz="1425" dirty="0"/>
          </a:p>
        </p:txBody>
      </p:sp>
      <p:sp>
        <p:nvSpPr>
          <p:cNvPr id="7" name="Text 4"/>
          <p:cNvSpPr/>
          <p:nvPr/>
        </p:nvSpPr>
        <p:spPr>
          <a:xfrm>
            <a:off x="11325225" y="6467475"/>
            <a:ext cx="49232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2026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72434" y="6467475"/>
            <a:ext cx="32374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*A Game of Skill, Focus &amp; Fun*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392" y="6206430"/>
            <a:ext cx="280392" cy="2674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55" y="6206430"/>
            <a:ext cx="280392" cy="26744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7475" y="2338536"/>
            <a:ext cx="2413992" cy="217393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577" y="2359075"/>
            <a:ext cx="2572494" cy="219447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957" y="2338536"/>
            <a:ext cx="2389584" cy="22013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063" y="438894"/>
            <a:ext cx="243780" cy="219373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57225" y="809625"/>
            <a:ext cx="11534775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750"/>
              </a:lnSpc>
              <a:buNone/>
            </a:pPr>
            <a:r>
              <a:rPr lang="en-US" sz="3750" b="1" dirty="0">
                <a:solidFill>
                  <a:srgbClr val="FBC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Need to Play</a:t>
            </a:r>
            <a:endParaRPr lang="en-US" sz="3750" dirty="0"/>
          </a:p>
        </p:txBody>
      </p:sp>
      <p:sp>
        <p:nvSpPr>
          <p:cNvPr id="10" name="Text 1"/>
          <p:cNvSpPr/>
          <p:nvPr/>
        </p:nvSpPr>
        <p:spPr>
          <a:xfrm>
            <a:off x="1084808" y="4705350"/>
            <a:ext cx="253543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0F0F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‘Buah’ Stones</a:t>
            </a:r>
            <a:endParaRPr lang="en-US" sz="1875" dirty="0"/>
          </a:p>
        </p:txBody>
      </p:sp>
      <p:sp>
        <p:nvSpPr>
          <p:cNvPr id="11" name="Text 2"/>
          <p:cNvSpPr/>
          <p:nvPr/>
        </p:nvSpPr>
        <p:spPr>
          <a:xfrm>
            <a:off x="5582543" y="4705350"/>
            <a:ext cx="10267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0F0F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Players</a:t>
            </a:r>
            <a:endParaRPr lang="en-US" sz="1875" dirty="0"/>
          </a:p>
        </p:txBody>
      </p:sp>
      <p:sp>
        <p:nvSpPr>
          <p:cNvPr id="12" name="Text 3"/>
          <p:cNvSpPr/>
          <p:nvPr/>
        </p:nvSpPr>
        <p:spPr>
          <a:xfrm>
            <a:off x="9135814" y="4705350"/>
            <a:ext cx="143529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0F0F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Setup</a:t>
            </a:r>
            <a:endParaRPr lang="en-US" sz="1875" dirty="0"/>
          </a:p>
        </p:txBody>
      </p:sp>
      <p:sp>
        <p:nvSpPr>
          <p:cNvPr id="13" name="Text 4"/>
          <p:cNvSpPr/>
          <p:nvPr/>
        </p:nvSpPr>
        <p:spPr>
          <a:xfrm>
            <a:off x="723900" y="419100"/>
            <a:ext cx="499491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F093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EQUIPMENT &amp; SETUP</a:t>
            </a:r>
            <a:endParaRPr lang="en-US" sz="1725" dirty="0"/>
          </a:p>
        </p:txBody>
      </p:sp>
      <p:sp>
        <p:nvSpPr>
          <p:cNvPr id="14" name="Text 5"/>
          <p:cNvSpPr/>
          <p:nvPr/>
        </p:nvSpPr>
        <p:spPr>
          <a:xfrm>
            <a:off x="686246" y="5067300"/>
            <a:ext cx="3342233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small stones or pyramid cloth</a:t>
            </a:r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bags filled with beans or sand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4438055" y="5067300"/>
            <a:ext cx="3363218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or group play — sit</a:t>
            </a:r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comfortably on the floor in a circle</a:t>
            </a:r>
            <a:endParaRPr lang="en-US" sz="1350" dirty="0"/>
          </a:p>
        </p:txBody>
      </p:sp>
      <p:sp>
        <p:nvSpPr>
          <p:cNvPr id="16" name="Text 7"/>
          <p:cNvSpPr/>
          <p:nvPr/>
        </p:nvSpPr>
        <p:spPr>
          <a:xfrm>
            <a:off x="8248055" y="5067300"/>
            <a:ext cx="3153668" cy="5656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Scatter the five stones gently on</a:t>
            </a:r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ground — choose one as</a:t>
            </a:r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tossing stone</a:t>
            </a:r>
            <a:endParaRPr lang="en-US" sz="1350" dirty="0"/>
          </a:p>
        </p:txBody>
      </p:sp>
      <p:sp>
        <p:nvSpPr>
          <p:cNvPr id="17" name="Text 8"/>
          <p:cNvSpPr/>
          <p:nvPr/>
        </p:nvSpPr>
        <p:spPr>
          <a:xfrm>
            <a:off x="530423" y="6229350"/>
            <a:ext cx="1166157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09372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⭐ Pro Tip: Traditional stones were found by rivers — smooth, flat pebbles fit perfectly in a child's palm! ⭐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71" y="6117282"/>
            <a:ext cx="402282" cy="39766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486" y="4923979"/>
            <a:ext cx="670471" cy="6788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486" y="3792438"/>
            <a:ext cx="670471" cy="685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486" y="2660898"/>
            <a:ext cx="670471" cy="69264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263" y="2016175"/>
            <a:ext cx="292596" cy="28798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65" y="4923979"/>
            <a:ext cx="694879" cy="67880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65" y="3792438"/>
            <a:ext cx="694879" cy="685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565" y="2660898"/>
            <a:ext cx="694879" cy="69949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953" y="2016175"/>
            <a:ext cx="268188" cy="28798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7075" y="315367"/>
            <a:ext cx="2730996" cy="1851571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90550" y="809625"/>
            <a:ext cx="11601450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1A53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Rules &amp; Faults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838200" y="1971675"/>
            <a:ext cx="384048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Rules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6686550" y="1971675"/>
            <a:ext cx="477774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Faults — Dead Turn!</a:t>
            </a:r>
            <a:endParaRPr lang="en-US" sz="1650" dirty="0"/>
          </a:p>
        </p:txBody>
      </p:sp>
      <p:sp>
        <p:nvSpPr>
          <p:cNvPr id="16" name="Text 3"/>
          <p:cNvSpPr/>
          <p:nvPr/>
        </p:nvSpPr>
        <p:spPr>
          <a:xfrm>
            <a:off x="1628775" y="2628900"/>
            <a:ext cx="38862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The Tossing Stone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1628775" y="3752850"/>
            <a:ext cx="38862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You Must Catch It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1628775" y="4876800"/>
            <a:ext cx="3120390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One Hand Only</a:t>
            </a:r>
            <a:endParaRPr lang="en-US" sz="1575" dirty="0"/>
          </a:p>
        </p:txBody>
      </p:sp>
      <p:sp>
        <p:nvSpPr>
          <p:cNvPr id="19" name="Text 6"/>
          <p:cNvSpPr/>
          <p:nvPr/>
        </p:nvSpPr>
        <p:spPr>
          <a:xfrm>
            <a:off x="7296150" y="2628900"/>
            <a:ext cx="34290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Missed the Buah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7296150" y="3752850"/>
            <a:ext cx="4800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Touching Other Stones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7296150" y="4876800"/>
            <a:ext cx="4560570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PlayfairDisplay-Italic" pitchFamily="34" charset="0"/>
                <a:ea typeface="PlayfairDisplay-Italic" pitchFamily="34" charset="-122"/>
                <a:cs typeface="PlayfairDisplay-Italic" pitchFamily="34" charset="-120"/>
              </a:rPr>
              <a:t>Wrong Number Picked</a:t>
            </a:r>
            <a:endParaRPr lang="en-US" sz="1575" dirty="0"/>
          </a:p>
        </p:txBody>
      </p:sp>
      <p:sp>
        <p:nvSpPr>
          <p:cNvPr id="22" name="Text 9"/>
          <p:cNvSpPr/>
          <p:nvPr/>
        </p:nvSpPr>
        <p:spPr>
          <a:xfrm>
            <a:off x="6324600" y="857250"/>
            <a:ext cx="27765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E4B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*Know the rules. Avoid the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E4B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5E4B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faults. Stay in the game.*</a:t>
            </a:r>
            <a:endParaRPr lang="en-US" sz="1500" dirty="0"/>
          </a:p>
        </p:txBody>
      </p:sp>
      <p:sp>
        <p:nvSpPr>
          <p:cNvPr id="23" name="Text 10"/>
          <p:cNvSpPr/>
          <p:nvPr/>
        </p:nvSpPr>
        <p:spPr>
          <a:xfrm>
            <a:off x="1274415" y="6153150"/>
            <a:ext cx="10917585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‘Dead Turn’ means you pass to the next player — but you resume from the same level next round!</a:t>
            </a:r>
            <a:endParaRPr lang="en-US" sz="1350" dirty="0"/>
          </a:p>
        </p:txBody>
      </p:sp>
      <p:sp>
        <p:nvSpPr>
          <p:cNvPr id="24" name="Text 11"/>
          <p:cNvSpPr/>
          <p:nvPr/>
        </p:nvSpPr>
        <p:spPr>
          <a:xfrm>
            <a:off x="1628775" y="2933700"/>
            <a:ext cx="4494758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stone is chosen as the ‘buah’ — the stone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always toss into the air.</a:t>
            </a:r>
            <a:endParaRPr lang="en-US" sz="1350" dirty="0"/>
          </a:p>
        </p:txBody>
      </p:sp>
      <p:sp>
        <p:nvSpPr>
          <p:cNvPr id="25" name="Text 12"/>
          <p:cNvSpPr/>
          <p:nvPr/>
        </p:nvSpPr>
        <p:spPr>
          <a:xfrm>
            <a:off x="1628775" y="4057650"/>
            <a:ext cx="4505325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buah must always be caught before it hits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ground — every single toss.</a:t>
            </a:r>
            <a:endParaRPr lang="en-US" sz="1350" dirty="0"/>
          </a:p>
        </p:txBody>
      </p:sp>
      <p:sp>
        <p:nvSpPr>
          <p:cNvPr id="26" name="Text 13"/>
          <p:cNvSpPr/>
          <p:nvPr/>
        </p:nvSpPr>
        <p:spPr>
          <a:xfrm>
            <a:off x="1628775" y="5181600"/>
            <a:ext cx="4746278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Tossing, picking up, and catching all happen with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same hand.</a:t>
            </a:r>
            <a:endParaRPr lang="en-US" sz="1350" dirty="0"/>
          </a:p>
        </p:txBody>
      </p:sp>
      <p:sp>
        <p:nvSpPr>
          <p:cNvPr id="27" name="Text 14"/>
          <p:cNvSpPr/>
          <p:nvPr/>
        </p:nvSpPr>
        <p:spPr>
          <a:xfrm>
            <a:off x="7296150" y="2933700"/>
            <a:ext cx="4494758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the tossing stone hits the ground before you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catch it — your turn ends immediately.</a:t>
            </a:r>
            <a:endParaRPr lang="en-US" sz="1350" dirty="0"/>
          </a:p>
        </p:txBody>
      </p:sp>
      <p:sp>
        <p:nvSpPr>
          <p:cNvPr id="28" name="Text 15"/>
          <p:cNvSpPr/>
          <p:nvPr/>
        </p:nvSpPr>
        <p:spPr>
          <a:xfrm>
            <a:off x="7296150" y="4057650"/>
            <a:ext cx="486147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unintentional movement of stones on the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ground — even a slight touch — counts as a fault.</a:t>
            </a:r>
            <a:endParaRPr lang="en-US" sz="1350" dirty="0"/>
          </a:p>
        </p:txBody>
      </p:sp>
      <p:sp>
        <p:nvSpPr>
          <p:cNvPr id="29" name="Text 16"/>
          <p:cNvSpPr/>
          <p:nvPr/>
        </p:nvSpPr>
        <p:spPr>
          <a:xfrm>
            <a:off x="7296150" y="5181600"/>
            <a:ext cx="4557713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Failing to pick up the exact required number of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stones for that level ends your turn.</a:t>
            </a:r>
            <a:endParaRPr lang="en-US" sz="1350" dirty="0"/>
          </a:p>
        </p:txBody>
      </p:sp>
      <p:sp>
        <p:nvSpPr>
          <p:cNvPr id="30" name="Text 17"/>
          <p:cNvSpPr/>
          <p:nvPr/>
        </p:nvSpPr>
        <p:spPr>
          <a:xfrm>
            <a:off x="590550" y="485775"/>
            <a:ext cx="276606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A53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BASICS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9" y="6535638"/>
            <a:ext cx="292596" cy="3016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859" y="1597819"/>
            <a:ext cx="4754761" cy="44301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48000" y="609600"/>
            <a:ext cx="9144000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2F180F"/>
                </a:solidFill>
                <a:latin typeface="ComicSansMS-Bold" pitchFamily="34" charset="0"/>
                <a:ea typeface="ComicSansMS-Bold" pitchFamily="34" charset="-122"/>
                <a:cs typeface="ComicSansMS-Bold" pitchFamily="34" charset="-120"/>
              </a:rPr>
              <a:t>Pick One Stone at a Time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590550" y="619125"/>
            <a:ext cx="3592830" cy="4335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13"/>
              </a:lnSpc>
              <a:buNone/>
            </a:pPr>
            <a:r>
              <a:rPr lang="en-US" sz="3075" b="1" dirty="0">
                <a:solidFill>
                  <a:srgbClr val="FFC000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LEVEL 1</a:t>
            </a:r>
            <a:endParaRPr lang="en-US" sz="3075" dirty="0"/>
          </a:p>
        </p:txBody>
      </p:sp>
      <p:sp>
        <p:nvSpPr>
          <p:cNvPr id="7" name="Text 2"/>
          <p:cNvSpPr/>
          <p:nvPr/>
        </p:nvSpPr>
        <p:spPr>
          <a:xfrm>
            <a:off x="1323975" y="2009775"/>
            <a:ext cx="4754880" cy="3626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56"/>
              </a:lnSpc>
              <a:buNone/>
            </a:pPr>
            <a:r>
              <a:rPr lang="en-US" sz="2400" dirty="0">
                <a:solidFill>
                  <a:srgbClr val="2F180F"/>
                </a:solidFill>
                <a:latin typeface="ComicSansMS-Bold" pitchFamily="34" charset="0"/>
                <a:ea typeface="ComicSansMS-Bold" pitchFamily="34" charset="-122"/>
                <a:cs typeface="ComicSansMS-Bold" pitchFamily="34" charset="-120"/>
              </a:rPr>
              <a:t>Toss the Buah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1323975" y="2971800"/>
            <a:ext cx="496062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2F180F"/>
                </a:solidFill>
                <a:latin typeface="ComicSansMS-Bold" pitchFamily="34" charset="0"/>
                <a:ea typeface="ComicSansMS-Bold" pitchFamily="34" charset="-122"/>
                <a:cs typeface="ComicSansMS-Bold" pitchFamily="34" charset="-120"/>
              </a:rPr>
              <a:t>Grab One Stone</a:t>
            </a:r>
            <a:endParaRPr lang="en-US" sz="2325" dirty="0"/>
          </a:p>
        </p:txBody>
      </p:sp>
      <p:sp>
        <p:nvSpPr>
          <p:cNvPr id="9" name="Text 4"/>
          <p:cNvSpPr/>
          <p:nvPr/>
        </p:nvSpPr>
        <p:spPr>
          <a:xfrm>
            <a:off x="1323975" y="4200525"/>
            <a:ext cx="496062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2F180F"/>
                </a:solidFill>
                <a:latin typeface="ComicSansMS-Bold" pitchFamily="34" charset="0"/>
                <a:ea typeface="ComicSansMS-Bold" pitchFamily="34" charset="-122"/>
                <a:cs typeface="ComicSansMS-Bold" pitchFamily="34" charset="-120"/>
              </a:rPr>
              <a:t>Catch the Buah</a:t>
            </a:r>
            <a:endParaRPr lang="en-US" sz="2325" dirty="0"/>
          </a:p>
        </p:txBody>
      </p:sp>
      <p:sp>
        <p:nvSpPr>
          <p:cNvPr id="10" name="Text 5"/>
          <p:cNvSpPr/>
          <p:nvPr/>
        </p:nvSpPr>
        <p:spPr>
          <a:xfrm>
            <a:off x="760958" y="2038350"/>
            <a:ext cx="230386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1</a:t>
            </a:r>
            <a:endParaRPr lang="en-US" sz="2025" dirty="0"/>
          </a:p>
        </p:txBody>
      </p:sp>
      <p:sp>
        <p:nvSpPr>
          <p:cNvPr id="11" name="Text 6"/>
          <p:cNvSpPr/>
          <p:nvPr/>
        </p:nvSpPr>
        <p:spPr>
          <a:xfrm>
            <a:off x="760958" y="3000375"/>
            <a:ext cx="230386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2</a:t>
            </a:r>
            <a:endParaRPr lang="en-US" sz="2025" dirty="0"/>
          </a:p>
        </p:txBody>
      </p:sp>
      <p:sp>
        <p:nvSpPr>
          <p:cNvPr id="12" name="Text 7"/>
          <p:cNvSpPr/>
          <p:nvPr/>
        </p:nvSpPr>
        <p:spPr>
          <a:xfrm>
            <a:off x="760958" y="4229100"/>
            <a:ext cx="230386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3</a:t>
            </a:r>
            <a:endParaRPr lang="en-US" sz="2025" dirty="0"/>
          </a:p>
        </p:txBody>
      </p:sp>
      <p:sp>
        <p:nvSpPr>
          <p:cNvPr id="13" name="Text 8"/>
          <p:cNvSpPr/>
          <p:nvPr/>
        </p:nvSpPr>
        <p:spPr>
          <a:xfrm>
            <a:off x="1323975" y="2457450"/>
            <a:ext cx="10868025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Throw the tossing stone straight up into the air</a:t>
            </a:r>
            <a:endParaRPr lang="en-US" sz="1725" dirty="0"/>
          </a:p>
        </p:txBody>
      </p:sp>
      <p:sp>
        <p:nvSpPr>
          <p:cNvPr id="14" name="Text 9"/>
          <p:cNvSpPr/>
          <p:nvPr/>
        </p:nvSpPr>
        <p:spPr>
          <a:xfrm>
            <a:off x="1323975" y="3409950"/>
            <a:ext cx="516537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While the buah is airborne, quickly pick up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exactly one stone from the ground</a:t>
            </a:r>
            <a:endParaRPr lang="en-US" sz="1725" dirty="0"/>
          </a:p>
        </p:txBody>
      </p:sp>
      <p:sp>
        <p:nvSpPr>
          <p:cNvPr id="15" name="Text 10"/>
          <p:cNvSpPr/>
          <p:nvPr/>
        </p:nvSpPr>
        <p:spPr>
          <a:xfrm>
            <a:off x="1323975" y="4610100"/>
            <a:ext cx="4945261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Catch the tossing stone before it hits the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ground — using the same hand</a:t>
            </a:r>
            <a:endParaRPr lang="en-US" sz="1725" dirty="0"/>
          </a:p>
        </p:txBody>
      </p:sp>
      <p:sp>
        <p:nvSpPr>
          <p:cNvPr id="16" name="Text 11"/>
          <p:cNvSpPr/>
          <p:nvPr/>
        </p:nvSpPr>
        <p:spPr>
          <a:xfrm>
            <a:off x="1504950" y="5467350"/>
            <a:ext cx="4201418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🔄 Repeat until all four stones are</a:t>
            </a:r>
            <a:pPr indent="0" marL="0">
              <a:lnSpc>
                <a:spcPts val="2432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dirty="0">
                <a:solidFill>
                  <a:srgbClr val="2F180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gathered, one at a time</a:t>
            </a:r>
            <a:endParaRPr lang="en-US" sz="1725" dirty="0"/>
          </a:p>
        </p:txBody>
      </p:sp>
      <p:sp>
        <p:nvSpPr>
          <p:cNvPr id="17" name="Text 12"/>
          <p:cNvSpPr/>
          <p:nvPr/>
        </p:nvSpPr>
        <p:spPr>
          <a:xfrm>
            <a:off x="571946" y="1095375"/>
            <a:ext cx="1875383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i="1" dirty="0">
                <a:solidFill>
                  <a:srgbClr val="FFFFFF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*One by One*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5397252" y="6562725"/>
            <a:ext cx="15400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*Batu Seremban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439525" y="6562725"/>
            <a:ext cx="5238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7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ComicSansMS" pitchFamily="34" charset="0"/>
                <a:ea typeface="ComicSansMS" pitchFamily="34" charset="-122"/>
                <a:cs typeface="ComicSansMS" pitchFamily="34" charset="-120"/>
              </a:rPr>
              <a:t>4 / 10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65" y="6460182"/>
            <a:ext cx="365671" cy="39082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580" y="946398"/>
            <a:ext cx="4669482" cy="47662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34230"/>
            <a:ext cx="390079" cy="37028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57225" y="1600200"/>
            <a:ext cx="11534775" cy="5531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356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Two Stones at a Time</a:t>
            </a:r>
            <a:endParaRPr lang="en-US" sz="3300" dirty="0"/>
          </a:p>
        </p:txBody>
      </p:sp>
      <p:sp>
        <p:nvSpPr>
          <p:cNvPr id="7" name="Text 1"/>
          <p:cNvSpPr/>
          <p:nvPr/>
        </p:nvSpPr>
        <p:spPr>
          <a:xfrm>
            <a:off x="786259" y="876300"/>
            <a:ext cx="1351508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LEVEL 2</a:t>
            </a:r>
            <a:endParaRPr lang="en-US" sz="1950" dirty="0"/>
          </a:p>
        </p:txBody>
      </p:sp>
      <p:sp>
        <p:nvSpPr>
          <p:cNvPr id="8" name="Text 2"/>
          <p:cNvSpPr/>
          <p:nvPr/>
        </p:nvSpPr>
        <p:spPr>
          <a:xfrm>
            <a:off x="676275" y="2247900"/>
            <a:ext cx="1025271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i="1" dirty="0">
                <a:solidFill>
                  <a:srgbClr val="F967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swift motion — twice the challenge!</a:t>
            </a:r>
            <a:endParaRPr lang="en-US" sz="1725" dirty="0"/>
          </a:p>
        </p:txBody>
      </p:sp>
      <p:sp>
        <p:nvSpPr>
          <p:cNvPr id="9" name="Text 3"/>
          <p:cNvSpPr/>
          <p:nvPr/>
        </p:nvSpPr>
        <p:spPr>
          <a:xfrm>
            <a:off x="974378" y="3162300"/>
            <a:ext cx="1465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953393" y="4095750"/>
            <a:ext cx="18856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Text 5"/>
          <p:cNvSpPr/>
          <p:nvPr/>
        </p:nvSpPr>
        <p:spPr>
          <a:xfrm>
            <a:off x="953393" y="5029200"/>
            <a:ext cx="18856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75" dirty="0"/>
          </a:p>
        </p:txBody>
      </p:sp>
      <p:sp>
        <p:nvSpPr>
          <p:cNvPr id="12" name="Text 6"/>
          <p:cNvSpPr/>
          <p:nvPr/>
        </p:nvSpPr>
        <p:spPr>
          <a:xfrm>
            <a:off x="1381125" y="3200400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Toss the ‘buah’ upward into the air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1381125" y="4095750"/>
            <a:ext cx="1028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Grab two stones from the ground in one motion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381125" y="5057775"/>
            <a:ext cx="1028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Catch the ‘buah’ before it lands — same hand!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57225" y="123825"/>
            <a:ext cx="318516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8ECD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*Batu Seremban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10896600" y="6562725"/>
            <a:ext cx="1089571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*Level 2 of 5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33475" y="5876925"/>
            <a:ext cx="603504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Touching other stones = Dead Turn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153" y="6206430"/>
            <a:ext cx="499765" cy="3153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482" y="6220123"/>
            <a:ext cx="341263" cy="2811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59" y="6151513"/>
            <a:ext cx="341263" cy="39766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761" y="2119015"/>
            <a:ext cx="2986980" cy="22973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592" y="2119015"/>
            <a:ext cx="3291780" cy="233853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669703" y="266700"/>
            <a:ext cx="5804446" cy="4987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927"/>
              </a:lnSpc>
              <a:buNone/>
            </a:pPr>
            <a:r>
              <a:rPr lang="en-US" sz="3300" b="1" dirty="0">
                <a:solidFill>
                  <a:srgbClr val="FFE066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Pick One, Then Three</a:t>
            </a:r>
            <a:endParaRPr lang="en-US" sz="3300" dirty="0"/>
          </a:p>
        </p:txBody>
      </p:sp>
      <p:sp>
        <p:nvSpPr>
          <p:cNvPr id="9" name="Text 1"/>
          <p:cNvSpPr/>
          <p:nvPr/>
        </p:nvSpPr>
        <p:spPr>
          <a:xfrm>
            <a:off x="540544" y="333375"/>
            <a:ext cx="1100138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LEVEL 3</a:t>
            </a:r>
            <a:endParaRPr lang="en-US" sz="1950" dirty="0"/>
          </a:p>
        </p:txBody>
      </p:sp>
      <p:sp>
        <p:nvSpPr>
          <p:cNvPr id="10" name="Text 2"/>
          <p:cNvSpPr/>
          <p:nvPr/>
        </p:nvSpPr>
        <p:spPr>
          <a:xfrm>
            <a:off x="2678906" y="1390650"/>
            <a:ext cx="785813" cy="2957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29"/>
              </a:lnSpc>
              <a:buNone/>
            </a:pPr>
            <a:r>
              <a:rPr lang="en-US" sz="1725" b="1" dirty="0">
                <a:solidFill>
                  <a:srgbClr val="8B4513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STEP 1</a:t>
            </a:r>
            <a:endParaRPr lang="en-US" sz="1725" dirty="0"/>
          </a:p>
        </p:txBody>
      </p:sp>
      <p:sp>
        <p:nvSpPr>
          <p:cNvPr id="11" name="Text 3"/>
          <p:cNvSpPr/>
          <p:nvPr/>
        </p:nvSpPr>
        <p:spPr>
          <a:xfrm>
            <a:off x="8722965" y="1390650"/>
            <a:ext cx="880021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STEP 2</a:t>
            </a:r>
            <a:endParaRPr lang="en-US" sz="1875" dirty="0"/>
          </a:p>
        </p:txBody>
      </p:sp>
      <p:sp>
        <p:nvSpPr>
          <p:cNvPr id="12" name="Text 4"/>
          <p:cNvSpPr/>
          <p:nvPr/>
        </p:nvSpPr>
        <p:spPr>
          <a:xfrm>
            <a:off x="1546771" y="4686300"/>
            <a:ext cx="3059311" cy="9929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06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Toss the buah upward</a:t>
            </a:r>
            <a:pPr algn="ctr" indent="0" marL="0">
              <a:lnSpc>
                <a:spcPts val="2606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2606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Grab one stone quickly</a:t>
            </a:r>
            <a:pPr algn="ctr" indent="0" marL="0">
              <a:lnSpc>
                <a:spcPts val="2606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2606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Catch the buah!</a:t>
            </a:r>
            <a:endParaRPr lang="en-US" sz="1875" dirty="0"/>
          </a:p>
        </p:txBody>
      </p:sp>
      <p:sp>
        <p:nvSpPr>
          <p:cNvPr id="13" name="Text 5"/>
          <p:cNvSpPr/>
          <p:nvPr/>
        </p:nvSpPr>
        <p:spPr>
          <a:xfrm>
            <a:off x="7047012" y="4686300"/>
            <a:ext cx="4222403" cy="9532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02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Toss the buah again</a:t>
            </a:r>
            <a:pPr algn="ctr" indent="0" marL="0">
              <a:lnSpc>
                <a:spcPts val="2502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2502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Grab the remaining three stones</a:t>
            </a:r>
            <a:pPr algn="ctr" indent="0" marL="0">
              <a:lnSpc>
                <a:spcPts val="2502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2502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Catch the buah!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5403949" y="3314700"/>
            <a:ext cx="1393478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**THEN**</a:t>
            </a:r>
            <a:endParaRPr lang="en-US" sz="1950" dirty="0"/>
          </a:p>
        </p:txBody>
      </p:sp>
      <p:sp>
        <p:nvSpPr>
          <p:cNvPr id="15" name="Text 7"/>
          <p:cNvSpPr/>
          <p:nvPr/>
        </p:nvSpPr>
        <p:spPr>
          <a:xfrm>
            <a:off x="9144000" y="400050"/>
            <a:ext cx="29337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*Step-by-step challenge*</a:t>
            </a:r>
            <a:endParaRPr lang="en-US" sz="1650" dirty="0"/>
          </a:p>
        </p:txBody>
      </p:sp>
      <p:sp>
        <p:nvSpPr>
          <p:cNvPr id="16" name="Text 8"/>
          <p:cNvSpPr/>
          <p:nvPr/>
        </p:nvSpPr>
        <p:spPr>
          <a:xfrm>
            <a:off x="465237" y="6229350"/>
            <a:ext cx="10928003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The Challenge: Both steps must be completed without faulting — one drop means losing your turn!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5261967" y="4171950"/>
            <a:ext cx="179159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*repeat with the rest*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871" y="6528792"/>
            <a:ext cx="1267867" cy="22621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65" y="6446490"/>
            <a:ext cx="377875" cy="39082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353" y="809179"/>
            <a:ext cx="5437584" cy="52188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94" y="932557"/>
            <a:ext cx="572988" cy="59650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14375" y="2009775"/>
            <a:ext cx="10995660" cy="4229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FBC9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Pick Four Stones at a Time</a:t>
            </a:r>
            <a:endParaRPr lang="en-US" sz="2775" dirty="0"/>
          </a:p>
        </p:txBody>
      </p:sp>
      <p:sp>
        <p:nvSpPr>
          <p:cNvPr id="8" name="Text 1"/>
          <p:cNvSpPr/>
          <p:nvPr/>
        </p:nvSpPr>
        <p:spPr>
          <a:xfrm>
            <a:off x="924371" y="638175"/>
            <a:ext cx="8276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5"/>
              </a:lnSpc>
              <a:buNone/>
            </a:pPr>
            <a:r>
              <a:rPr lang="en-US" sz="1875" b="1" dirty="0">
                <a:solidFill>
                  <a:srgbClr val="FBC9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</a:t>
            </a:r>
            <a:endParaRPr lang="en-US" sz="1875" dirty="0"/>
          </a:p>
        </p:txBody>
      </p:sp>
      <p:sp>
        <p:nvSpPr>
          <p:cNvPr id="9" name="Text 2"/>
          <p:cNvSpPr/>
          <p:nvPr/>
        </p:nvSpPr>
        <p:spPr>
          <a:xfrm>
            <a:off x="714375" y="3038475"/>
            <a:ext cx="5710238" cy="8545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Sweep all four stones from the ground in one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single fluid motion — then catch the tossing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stone before it lands.</a:t>
            </a:r>
            <a:endParaRPr lang="en-US" sz="1725" dirty="0"/>
          </a:p>
        </p:txBody>
      </p:sp>
      <p:sp>
        <p:nvSpPr>
          <p:cNvPr id="10" name="Text 3"/>
          <p:cNvSpPr/>
          <p:nvPr/>
        </p:nvSpPr>
        <p:spPr>
          <a:xfrm>
            <a:off x="714375" y="4286250"/>
            <a:ext cx="6835140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Toss the buah into the air</a:t>
            </a:r>
            <a:endParaRPr lang="en-US" sz="1725" dirty="0"/>
          </a:p>
        </p:txBody>
      </p:sp>
      <p:sp>
        <p:nvSpPr>
          <p:cNvPr id="11" name="Text 4"/>
          <p:cNvSpPr/>
          <p:nvPr/>
        </p:nvSpPr>
        <p:spPr>
          <a:xfrm>
            <a:off x="714375" y="4629150"/>
            <a:ext cx="9201150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Sweep all four stones in one motion</a:t>
            </a:r>
            <a:endParaRPr lang="en-US" sz="1725" dirty="0"/>
          </a:p>
        </p:txBody>
      </p:sp>
      <p:sp>
        <p:nvSpPr>
          <p:cNvPr id="12" name="Text 5"/>
          <p:cNvSpPr/>
          <p:nvPr/>
        </p:nvSpPr>
        <p:spPr>
          <a:xfrm>
            <a:off x="714375" y="4972050"/>
            <a:ext cx="10515600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Catch the buah before it hits the ground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714375" y="5581650"/>
            <a:ext cx="50292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The hardest pickup yet — speed and</a:t>
            </a:r>
            <a:pPr indent="0" marL="0">
              <a:lnSpc>
                <a:spcPts val="2063"/>
              </a:lnSpc>
              <a:buNone/>
            </a:pPr>
            <a:r>
              <a:rPr lang="en-US" sz="1650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650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 are everything!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714375" y="2838450"/>
            <a:ext cx="195453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b="1" dirty="0">
                <a:solidFill>
                  <a:srgbClr val="FBC9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</a:t>
            </a:r>
            <a:endParaRPr lang="en-US" sz="1425" dirty="0"/>
          </a:p>
        </p:txBody>
      </p:sp>
      <p:sp>
        <p:nvSpPr>
          <p:cNvPr id="15" name="Text 8"/>
          <p:cNvSpPr/>
          <p:nvPr/>
        </p:nvSpPr>
        <p:spPr>
          <a:xfrm>
            <a:off x="714375" y="4029075"/>
            <a:ext cx="238887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b="1" dirty="0">
                <a:solidFill>
                  <a:srgbClr val="FBC9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TO PLAY</a:t>
            </a:r>
            <a:endParaRPr lang="en-US" sz="1425" dirty="0"/>
          </a:p>
        </p:txBody>
      </p:sp>
      <p:sp>
        <p:nvSpPr>
          <p:cNvPr id="16" name="Text 9"/>
          <p:cNvSpPr/>
          <p:nvPr/>
        </p:nvSpPr>
        <p:spPr>
          <a:xfrm>
            <a:off x="4857750" y="6534150"/>
            <a:ext cx="270316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425"/>
              </a:lnSpc>
              <a:buNone/>
            </a:pPr>
            <a:r>
              <a:rPr lang="en-US" sz="1425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Batu Seremban · Level 4 of 5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2" y="6117282"/>
            <a:ext cx="719286" cy="69264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773" y="294829"/>
            <a:ext cx="4181773" cy="58635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86" y="500509"/>
            <a:ext cx="292596" cy="23306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0550" y="933450"/>
            <a:ext cx="4683323" cy="12379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874"/>
              </a:lnSpc>
              <a:buNone/>
            </a:pPr>
            <a:r>
              <a:rPr lang="en-US" sz="4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Timbang</a:t>
            </a:r>
            <a:pPr indent="0" marL="0">
              <a:lnSpc>
                <a:spcPts val="4874"/>
              </a:lnSpc>
              <a:buNone/>
            </a:pPr>
            <a:r>
              <a:rPr lang="en-US" sz="4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4874"/>
              </a:lnSpc>
              <a:buNone/>
            </a:pPr>
            <a:r>
              <a:rPr lang="en-US" sz="42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Balancing</a:t>
            </a:r>
            <a:endParaRPr lang="en-US" sz="4275" dirty="0"/>
          </a:p>
        </p:txBody>
      </p:sp>
      <p:sp>
        <p:nvSpPr>
          <p:cNvPr id="7" name="Text 1"/>
          <p:cNvSpPr/>
          <p:nvPr/>
        </p:nvSpPr>
        <p:spPr>
          <a:xfrm>
            <a:off x="1200150" y="2647950"/>
            <a:ext cx="341757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</a:rPr>
              <a:t>Toss All Five</a:t>
            </a:r>
            <a:endParaRPr lang="en-US" sz="1725" dirty="0"/>
          </a:p>
        </p:txBody>
      </p:sp>
      <p:sp>
        <p:nvSpPr>
          <p:cNvPr id="8" name="Text 2"/>
          <p:cNvSpPr/>
          <p:nvPr/>
        </p:nvSpPr>
        <p:spPr>
          <a:xfrm>
            <a:off x="1200150" y="3724275"/>
            <a:ext cx="446913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</a:rPr>
              <a:t>Catch on the Back</a:t>
            </a:r>
            <a:endParaRPr lang="en-US" sz="1725" dirty="0"/>
          </a:p>
        </p:txBody>
      </p:sp>
      <p:sp>
        <p:nvSpPr>
          <p:cNvPr id="9" name="Text 3"/>
          <p:cNvSpPr/>
          <p:nvPr/>
        </p:nvSpPr>
        <p:spPr>
          <a:xfrm>
            <a:off x="1200150" y="4810125"/>
            <a:ext cx="446913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</a:rPr>
              <a:t>Catch in the Palm</a:t>
            </a:r>
            <a:endParaRPr lang="en-US" sz="1725" dirty="0"/>
          </a:p>
        </p:txBody>
      </p:sp>
      <p:sp>
        <p:nvSpPr>
          <p:cNvPr id="10" name="Text 4"/>
          <p:cNvSpPr/>
          <p:nvPr/>
        </p:nvSpPr>
        <p:spPr>
          <a:xfrm>
            <a:off x="829121" y="2581275"/>
            <a:ext cx="198983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FFFFFF"/>
                </a:solidFill>
              </a:rPr>
              <a:t>1</a:t>
            </a:r>
            <a:endParaRPr lang="en-US" sz="1725" dirty="0"/>
          </a:p>
        </p:txBody>
      </p:sp>
      <p:sp>
        <p:nvSpPr>
          <p:cNvPr id="11" name="Text 5"/>
          <p:cNvSpPr/>
          <p:nvPr/>
        </p:nvSpPr>
        <p:spPr>
          <a:xfrm>
            <a:off x="829121" y="3743325"/>
            <a:ext cx="198983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FFFFFF"/>
                </a:solidFill>
              </a:rPr>
              <a:t>2</a:t>
            </a:r>
            <a:endParaRPr lang="en-US" sz="1725" dirty="0"/>
          </a:p>
        </p:txBody>
      </p:sp>
      <p:sp>
        <p:nvSpPr>
          <p:cNvPr id="12" name="Text 6"/>
          <p:cNvSpPr/>
          <p:nvPr/>
        </p:nvSpPr>
        <p:spPr>
          <a:xfrm>
            <a:off x="829121" y="4829175"/>
            <a:ext cx="198983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43"/>
              </a:lnSpc>
              <a:buNone/>
            </a:pPr>
            <a:r>
              <a:rPr lang="en-US" sz="1725" b="1" dirty="0">
                <a:solidFill>
                  <a:srgbClr val="FFFFFF"/>
                </a:solidFill>
              </a:rPr>
              <a:t>3</a:t>
            </a:r>
            <a:endParaRPr lang="en-US" sz="1725" dirty="0"/>
          </a:p>
        </p:txBody>
      </p:sp>
      <p:sp>
        <p:nvSpPr>
          <p:cNvPr id="13" name="Text 7"/>
          <p:cNvSpPr/>
          <p:nvPr/>
        </p:nvSpPr>
        <p:spPr>
          <a:xfrm>
            <a:off x="11325225" y="6524625"/>
            <a:ext cx="628650" cy="1602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62"/>
              </a:lnSpc>
              <a:buNone/>
            </a:pPr>
            <a:r>
              <a:rPr lang="en-US" sz="1275" dirty="0">
                <a:solidFill>
                  <a:srgbClr val="D3D3D3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08 / 10</a:t>
            </a:r>
            <a:endParaRPr lang="en-US" sz="1275" dirty="0"/>
          </a:p>
        </p:txBody>
      </p:sp>
      <p:sp>
        <p:nvSpPr>
          <p:cNvPr id="14" name="Text 8"/>
          <p:cNvSpPr/>
          <p:nvPr/>
        </p:nvSpPr>
        <p:spPr>
          <a:xfrm>
            <a:off x="962025" y="5905500"/>
            <a:ext cx="10641330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F0C44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more stones you catch, the higher your score!</a:t>
            </a:r>
            <a:endParaRPr lang="en-US" sz="1425" dirty="0"/>
          </a:p>
        </p:txBody>
      </p:sp>
      <p:sp>
        <p:nvSpPr>
          <p:cNvPr id="15" name="Text 9"/>
          <p:cNvSpPr/>
          <p:nvPr/>
        </p:nvSpPr>
        <p:spPr>
          <a:xfrm>
            <a:off x="962025" y="504825"/>
            <a:ext cx="5574030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LEVEL 5 — Final Challenge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1200150" y="2971800"/>
            <a:ext cx="4892873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Place all 5 stones in your palm, then toss them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upward into the air.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00150" y="4048125"/>
            <a:ext cx="5196780" cy="3943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Flip your hand quickly — catch as many stones as</a:t>
            </a:r>
            <a:pPr indent="0" marL="0">
              <a:lnSpc>
                <a:spcPts val="1553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553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possible on the back of your hand.</a:t>
            </a:r>
            <a:endParaRPr lang="en-US" sz="1425" dirty="0"/>
          </a:p>
        </p:txBody>
      </p:sp>
      <p:sp>
        <p:nvSpPr>
          <p:cNvPr id="18" name="Text 12"/>
          <p:cNvSpPr/>
          <p:nvPr/>
        </p:nvSpPr>
        <p:spPr>
          <a:xfrm>
            <a:off x="1200150" y="5143500"/>
            <a:ext cx="5395913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Toss the stones from the back of your hand upward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again, flip back, and catch them in your palm.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064198" y="6524625"/>
            <a:ext cx="4044255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i="1" dirty="0">
                <a:solidFill>
                  <a:srgbClr val="D3D3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'The most skillful move in Batu Seremban'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882" y="5438329"/>
            <a:ext cx="390079" cy="35659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180" y="5074890"/>
            <a:ext cx="2389584" cy="172134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729359"/>
            <a:ext cx="377875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796" y="2729359"/>
            <a:ext cx="377875" cy="37713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80" y="2729359"/>
            <a:ext cx="426690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77" y="493663"/>
            <a:ext cx="231577" cy="28113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14375" y="981075"/>
            <a:ext cx="8641080" cy="5914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658"/>
              </a:lnSpc>
              <a:buNone/>
            </a:pPr>
            <a:r>
              <a:rPr lang="en-US" sz="4050" b="1" dirty="0">
                <a:solidFill>
                  <a:srgbClr val="FDB8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Scoring System</a:t>
            </a:r>
            <a:endParaRPr lang="en-US" sz="4050" dirty="0"/>
          </a:p>
        </p:txBody>
      </p:sp>
      <p:sp>
        <p:nvSpPr>
          <p:cNvPr id="10" name="Text 1"/>
          <p:cNvSpPr/>
          <p:nvPr/>
        </p:nvSpPr>
        <p:spPr>
          <a:xfrm>
            <a:off x="1748730" y="4010025"/>
            <a:ext cx="1341090" cy="5100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4016"/>
              </a:lnSpc>
              <a:buNone/>
            </a:pPr>
            <a:r>
              <a:rPr lang="en-US" sz="3375" dirty="0">
                <a:solidFill>
                  <a:srgbClr val="FDB813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2 pts</a:t>
            </a:r>
            <a:endParaRPr lang="en-US" sz="3375" dirty="0"/>
          </a:p>
        </p:txBody>
      </p:sp>
      <p:sp>
        <p:nvSpPr>
          <p:cNvPr id="11" name="Text 2"/>
          <p:cNvSpPr/>
          <p:nvPr/>
        </p:nvSpPr>
        <p:spPr>
          <a:xfrm>
            <a:off x="5267325" y="4010025"/>
            <a:ext cx="1676400" cy="5100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4016"/>
              </a:lnSpc>
              <a:buNone/>
            </a:pPr>
            <a:r>
              <a:rPr lang="en-US" sz="3375" dirty="0">
                <a:solidFill>
                  <a:srgbClr val="FF5733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50 pts</a:t>
            </a:r>
            <a:endParaRPr lang="en-US" sz="3375" dirty="0"/>
          </a:p>
        </p:txBody>
      </p:sp>
      <p:sp>
        <p:nvSpPr>
          <p:cNvPr id="12" name="Text 3"/>
          <p:cNvSpPr/>
          <p:nvPr/>
        </p:nvSpPr>
        <p:spPr>
          <a:xfrm>
            <a:off x="9332565" y="4010025"/>
            <a:ext cx="880021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392"/>
              </a:lnSpc>
              <a:buNone/>
            </a:pPr>
            <a:r>
              <a:rPr lang="en-US" sz="2850" dirty="0">
                <a:solidFill>
                  <a:srgbClr val="76C8A6"/>
                </a:solidFill>
                <a:latin typeface="PlayfairDisplay-BoldItalic" pitchFamily="34" charset="0"/>
                <a:ea typeface="PlayfairDisplay-BoldItalic" pitchFamily="34" charset="-122"/>
                <a:cs typeface="PlayfairDisplay-BoldItalic" pitchFamily="34" charset="-120"/>
              </a:rPr>
              <a:t>1 pt</a:t>
            </a:r>
            <a:endParaRPr lang="en-US" sz="2850" dirty="0"/>
          </a:p>
        </p:txBody>
      </p:sp>
      <p:sp>
        <p:nvSpPr>
          <p:cNvPr id="13" name="Text 4"/>
          <p:cNvSpPr/>
          <p:nvPr/>
        </p:nvSpPr>
        <p:spPr>
          <a:xfrm>
            <a:off x="1381125" y="2762250"/>
            <a:ext cx="3977640" cy="3314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Score</a:t>
            </a:r>
            <a:endParaRPr lang="en-US" sz="2175" dirty="0"/>
          </a:p>
        </p:txBody>
      </p:sp>
      <p:sp>
        <p:nvSpPr>
          <p:cNvPr id="14" name="Text 5"/>
          <p:cNvSpPr/>
          <p:nvPr/>
        </p:nvSpPr>
        <p:spPr>
          <a:xfrm>
            <a:off x="5105400" y="2762250"/>
            <a:ext cx="320040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Win</a:t>
            </a:r>
            <a:endParaRPr lang="en-US" sz="2100" dirty="0"/>
          </a:p>
        </p:txBody>
      </p:sp>
      <p:sp>
        <p:nvSpPr>
          <p:cNvPr id="15" name="Text 6"/>
          <p:cNvSpPr/>
          <p:nvPr/>
        </p:nvSpPr>
        <p:spPr>
          <a:xfrm>
            <a:off x="8696325" y="2762250"/>
            <a:ext cx="3314700" cy="3314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Variations</a:t>
            </a:r>
            <a:endParaRPr lang="en-US" sz="2175" dirty="0"/>
          </a:p>
        </p:txBody>
      </p:sp>
      <p:sp>
        <p:nvSpPr>
          <p:cNvPr id="16" name="Text 7"/>
          <p:cNvSpPr/>
          <p:nvPr/>
        </p:nvSpPr>
        <p:spPr>
          <a:xfrm>
            <a:off x="4495800" y="5467350"/>
            <a:ext cx="6629400" cy="3314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22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Perfect Round Bonus!</a:t>
            </a:r>
            <a:endParaRPr lang="en-US" sz="2175" dirty="0"/>
          </a:p>
        </p:txBody>
      </p:sp>
      <p:sp>
        <p:nvSpPr>
          <p:cNvPr id="17" name="Text 8"/>
          <p:cNvSpPr/>
          <p:nvPr/>
        </p:nvSpPr>
        <p:spPr>
          <a:xfrm>
            <a:off x="1143000" y="485775"/>
            <a:ext cx="4922520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Level 5 • Timbang Only</a:t>
            </a:r>
            <a:endParaRPr lang="en-US" sz="1425" dirty="0"/>
          </a:p>
        </p:txBody>
      </p:sp>
      <p:sp>
        <p:nvSpPr>
          <p:cNvPr id="18" name="Text 9"/>
          <p:cNvSpPr/>
          <p:nvPr/>
        </p:nvSpPr>
        <p:spPr>
          <a:xfrm>
            <a:off x="771525" y="3209925"/>
            <a:ext cx="3656558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stone caught on the back of the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 and then successfully caught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 in the palm earns points.</a:t>
            </a:r>
            <a:endParaRPr lang="en-US" sz="1425" dirty="0"/>
          </a:p>
        </p:txBody>
      </p:sp>
      <p:sp>
        <p:nvSpPr>
          <p:cNvPr id="19" name="Text 10"/>
          <p:cNvSpPr/>
          <p:nvPr/>
        </p:nvSpPr>
        <p:spPr>
          <a:xfrm>
            <a:off x="4619625" y="3209925"/>
            <a:ext cx="3667125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player with the highest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cumulative points after all rounds wins.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 to reach the target score wins!</a:t>
            </a:r>
            <a:endParaRPr lang="en-US" sz="1425" dirty="0"/>
          </a:p>
        </p:txBody>
      </p:sp>
      <p:sp>
        <p:nvSpPr>
          <p:cNvPr id="20" name="Text 11"/>
          <p:cNvSpPr/>
          <p:nvPr/>
        </p:nvSpPr>
        <p:spPr>
          <a:xfrm>
            <a:off x="8277225" y="3209925"/>
            <a:ext cx="3520380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Some groups play with 1 point per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stone instead of 2. Agree on the rules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the game begins!</a:t>
            </a:r>
            <a:endParaRPr lang="en-US" sz="1425" dirty="0"/>
          </a:p>
        </p:txBody>
      </p:sp>
      <p:sp>
        <p:nvSpPr>
          <p:cNvPr id="21" name="Text 12"/>
          <p:cNvSpPr/>
          <p:nvPr/>
        </p:nvSpPr>
        <p:spPr>
          <a:xfrm>
            <a:off x="4067175" y="5886450"/>
            <a:ext cx="6663630" cy="5030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22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Catch all 5 stones during Timbang for a perfect round —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22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22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extraordinary feat worth celebrating!</a:t>
            </a:r>
            <a:endParaRPr lang="en-US" sz="1425" dirty="0"/>
          </a:p>
        </p:txBody>
      </p:sp>
      <p:sp>
        <p:nvSpPr>
          <p:cNvPr id="22" name="Text 13"/>
          <p:cNvSpPr/>
          <p:nvPr/>
        </p:nvSpPr>
        <p:spPr>
          <a:xfrm>
            <a:off x="1682055" y="4600575"/>
            <a:ext cx="1550640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 stone caught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5139630" y="4600575"/>
            <a:ext cx="1969740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example target score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8996363" y="4600575"/>
            <a:ext cx="1571625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alternate scoring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10401746" y="5629275"/>
            <a:ext cx="827633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FDB81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pts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14375" y="1647825"/>
            <a:ext cx="11477625" cy="241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00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*Points are earned during the Timbang round — the ultimate test of skill*</a:t>
            </a:r>
            <a:endParaRPr lang="en-US" sz="1275" dirty="0"/>
          </a:p>
        </p:txBody>
      </p:sp>
      <p:sp>
        <p:nvSpPr>
          <p:cNvPr id="27" name="Text 18"/>
          <p:cNvSpPr/>
          <p:nvPr/>
        </p:nvSpPr>
        <p:spPr>
          <a:xfrm>
            <a:off x="10349359" y="5924550"/>
            <a:ext cx="932408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(or maximum</a:t>
            </a:r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
</a:t>
            </a:r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score)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859" y="6089898"/>
            <a:ext cx="1755577" cy="31536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992" y="2571750"/>
            <a:ext cx="2621161" cy="179665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765" y="2365921"/>
            <a:ext cx="2291953" cy="20161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459" y="2420838"/>
            <a:ext cx="2109192" cy="199563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57225" y="781050"/>
            <a:ext cx="11430000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3"/>
              </a:lnSpc>
              <a:buNone/>
            </a:pPr>
            <a:r>
              <a:rPr lang="en-US" sz="3750" b="1" dirty="0">
                <a:solidFill>
                  <a:srgbClr val="FBC9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Benefits of the Game</a:t>
            </a:r>
            <a:endParaRPr lang="en-US" sz="3750" dirty="0"/>
          </a:p>
        </p:txBody>
      </p:sp>
      <p:sp>
        <p:nvSpPr>
          <p:cNvPr id="8" name="Text 1"/>
          <p:cNvSpPr/>
          <p:nvPr/>
        </p:nvSpPr>
        <p:spPr>
          <a:xfrm>
            <a:off x="555724" y="4533900"/>
            <a:ext cx="348897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FBC94B"/>
                </a:solidFill>
              </a:rPr>
              <a:t>Hand-Eye Coordination</a:t>
            </a:r>
            <a:endParaRPr lang="en-US" sz="1875" dirty="0"/>
          </a:p>
        </p:txBody>
      </p:sp>
      <p:sp>
        <p:nvSpPr>
          <p:cNvPr id="9" name="Text 2"/>
          <p:cNvSpPr/>
          <p:nvPr/>
        </p:nvSpPr>
        <p:spPr>
          <a:xfrm>
            <a:off x="5138738" y="4533900"/>
            <a:ext cx="1990725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FBC94B"/>
                </a:solidFill>
              </a:rPr>
              <a:t>Concentration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8824317" y="4533900"/>
            <a:ext cx="200114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FBC94B"/>
                </a:solidFill>
              </a:rPr>
              <a:t>Social Bonding</a:t>
            </a:r>
            <a:endParaRPr lang="en-US" sz="1650" dirty="0"/>
          </a:p>
        </p:txBody>
      </p:sp>
      <p:sp>
        <p:nvSpPr>
          <p:cNvPr id="11" name="Text 4"/>
          <p:cNvSpPr/>
          <p:nvPr/>
        </p:nvSpPr>
        <p:spPr>
          <a:xfrm>
            <a:off x="714375" y="428625"/>
            <a:ext cx="3417570" cy="2168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8"/>
              </a:lnSpc>
              <a:buNone/>
            </a:pPr>
            <a:r>
              <a:rPr lang="en-US" sz="1725" b="1" dirty="0">
                <a:solidFill>
                  <a:srgbClr val="FBC9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WHY PLAY? •</a:t>
            </a:r>
            <a:endParaRPr lang="en-US" sz="1725" dirty="0"/>
          </a:p>
        </p:txBody>
      </p:sp>
      <p:sp>
        <p:nvSpPr>
          <p:cNvPr id="12" name="Text 5"/>
          <p:cNvSpPr/>
          <p:nvPr/>
        </p:nvSpPr>
        <p:spPr>
          <a:xfrm>
            <a:off x="38100" y="1466850"/>
            <a:ext cx="1215390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than just a game — a timeless tradition that sharpens the mind and warms the heart.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748159" y="4924425"/>
            <a:ext cx="323745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Precise timing and quick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reflexes develop naturally with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toss and catch.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4533900" y="4924425"/>
            <a:ext cx="31432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round demands intense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— training the mind to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stay sharp and present.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227219" y="4924425"/>
            <a:ext cx="319563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screen-free way to connect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friends and family across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generations.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2741712" y="6467475"/>
            <a:ext cx="6737003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9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“A game played with the hands, remembered with the heart.”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0771733" y="6496050"/>
            <a:ext cx="127813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7"/>
              </a:lnSpc>
              <a:buNone/>
            </a:pPr>
            <a:r>
              <a:rPr lang="en-US" sz="1350" dirty="0">
                <a:solidFill>
                  <a:srgbClr val="FBC9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10 of 10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2026-05-06T03:51:50Z</dcterms:created>
  <dcterms:modified xsi:type="dcterms:W3CDTF">2026-05-06T03:51:50Z</dcterms:modified>
</cp:coreProperties>
</file>